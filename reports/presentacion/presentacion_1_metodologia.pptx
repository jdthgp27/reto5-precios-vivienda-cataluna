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3200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Predicción de Transacciones Inmobiliarias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Barcelona 2012-2025 · Metodología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Reto 5 · Business Intelligence y Big Data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Curso Odisea Data · 2025</a:t>
            </a:r>
          </a:p>
        </p:txBody>
      </p:sp>
      <p:pic>
        <p:nvPicPr>
          <p:cNvPr id="7" name="ttsmaker-file-2026-9-18-19-55-55">
            <a:hlinkClick r:id="" action="ppaction://media"/>
            <a:extLst>
              <a:ext uri="{FF2B5EF4-FFF2-40B4-BE49-F238E27FC236}">
                <a16:creationId xmlns:a16="http://schemas.microsoft.com/office/drawing/2014/main" id="{1AB8B8EF-99EA-498D-57B8-5D7C408D13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60447" y="5741351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7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Índice de la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1. El reto y su contexto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2. Preguntas de negocio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3. Fuentes de datos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4. Pipeline del proyecto (5 fases)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5. Fase 1: Reparación de CSV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6. Fase 2: Ingesta y agregación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7. Fase 3: Filtrado de barrios y meses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8. Fase 4: Feature engineering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9. Fase 5: Split temporal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10. Detección y corrección de data leakage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11. Modelado: Ridge vs XGBoost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12. Validación temporal</a:t>
            </a:r>
          </a:p>
        </p:txBody>
      </p:sp>
      <p:pic>
        <p:nvPicPr>
          <p:cNvPr id="5" name="ttsmaker-file-2026-9-18-19-57-42">
            <a:hlinkClick r:id="" action="ppaction://media"/>
            <a:extLst>
              <a:ext uri="{FF2B5EF4-FFF2-40B4-BE49-F238E27FC236}">
                <a16:creationId xmlns:a16="http://schemas.microsoft.com/office/drawing/2014/main" id="{F8EA3C93-2AB5-2ABA-5A25-C4F541BF9A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76050" y="5601569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26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1. El reto y su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3E50"/>
                </a:solidFill>
                <a:latin typeface="Calibri"/>
              </a:defRPr>
            </a:pPr>
            <a:r>
              <a:t>Business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058400" cy="12801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Predecir el número de transacciones inmobiliarias</a:t>
            </a:r>
          </a:p>
          <a:p>
            <a:r>
              <a:t>mensuales por barrio en Barcelona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Contexto de negocio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Mercado inmobiliario volátil (crisis 2012, COVID 2020, máximos 2025)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Falta de modelos públicos y reproducibles a nivel de barrio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Actores afectados: inversores, agencias, administraciones, banca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Objetivo general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Diseñar un proyecto completo de Business Analytics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Combinar metodologías y mejores prácticas de la industria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Generar insights accionables para la toma de decisiones</a:t>
            </a:r>
          </a:p>
        </p:txBody>
      </p:sp>
      <p:pic>
        <p:nvPicPr>
          <p:cNvPr id="7" name="ttsmaker-file-2026-9-18-19-59-2">
            <a:hlinkClick r:id="" action="ppaction://media"/>
            <a:extLst>
              <a:ext uri="{FF2B5EF4-FFF2-40B4-BE49-F238E27FC236}">
                <a16:creationId xmlns:a16="http://schemas.microsoft.com/office/drawing/2014/main" id="{324782AD-6057-A9C2-695A-77883F99DB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85437" y="566928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9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2. Preguntas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P1: ¿Cómo ha evolucionado el volumen de transacciones en Barcelona (2012-2025)?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P2: ¿Existe un patrón estacional claro? ¿Qué meses concentran más actividad?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P3: ¿Qué barrios concentran la mayor actividad inmobiliaria?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P4: ¿Qué variables explican mejor el número de transacciones de un barrio?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P5: ¿Podemos predecir con precisión el número de transacciones del mes siguiente?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Objetivos específicos: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Construir un dataset consolidado desde fuentes oficiales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Analizar patrones temporales y espaciales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Comparar baseline vs modelo avanzado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Interpretar el modelo con SHAP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Generar recomendaciones accionables</a:t>
            </a:r>
          </a:p>
        </p:txBody>
      </p:sp>
      <p:pic>
        <p:nvPicPr>
          <p:cNvPr id="5" name="ttsmaker-file-2026-9-18-20-0-24">
            <a:hlinkClick r:id="" action="ppaction://media"/>
            <a:extLst>
              <a:ext uri="{FF2B5EF4-FFF2-40B4-BE49-F238E27FC236}">
                <a16:creationId xmlns:a16="http://schemas.microsoft.com/office/drawing/2014/main" id="{9C736844-67F2-B800-DE54-BEC82BDCD6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18689" y="538025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3. Fuentes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Fuente principal: datos.gob.es (Portal Estadístico del Notariado)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15 archivos CSV · 2012-2026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Granularidad: barrio × mes × tipología de uso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36.771 filas tras consolidación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Organismo emisor: Consejo General del Notariado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Fuente complementaria: SERPAVI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Excel con datos 2011-2024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Granularidad: sección censal, distrito, municipio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Precio medio alquiler €/m²/mes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Organismo emisor: Ministerio de Vivienda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Fuente complementaria: Padrón Municipal 2024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Población extranjera por distrito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Uso: análisis descriptivo adicional</a:t>
            </a:r>
          </a:p>
        </p:txBody>
      </p:sp>
      <p:pic>
        <p:nvPicPr>
          <p:cNvPr id="5" name="ttsmaker-file-2026-9-18-20-1-42">
            <a:hlinkClick r:id="" action="ppaction://media"/>
            <a:extLst>
              <a:ext uri="{FF2B5EF4-FFF2-40B4-BE49-F238E27FC236}">
                <a16:creationId xmlns:a16="http://schemas.microsoft.com/office/drawing/2014/main" id="{E2501BDB-85DA-5C87-2AC7-E83C57D90D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47810" y="568310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0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4. Pipeline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8288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Reparación</a:t>
            </a:r>
          </a:p>
          <a:p>
            <a:r>
              <a:t>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103120"/>
            <a:ext cx="18288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Ingesta</a:t>
            </a:r>
          </a:p>
          <a:p>
            <a:r>
              <a:t>y consolidación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103120"/>
            <a:ext cx="18288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Agregación</a:t>
            </a:r>
          </a:p>
          <a:p>
            <a:r>
              <a:t>barrio-mes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103120"/>
            <a:ext cx="18288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Filtrado</a:t>
            </a:r>
          </a:p>
          <a:p>
            <a:r>
              <a:t>y limpieza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103120"/>
            <a:ext cx="182880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 Feature</a:t>
            </a:r>
          </a:p>
          <a:p>
            <a:r>
              <a:t>engineering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2606040"/>
            <a:ext cx="365760" cy="365760"/>
          </a:xfrm>
          <a:prstGeom prst="rightArrow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892040" y="2606040"/>
            <a:ext cx="365760" cy="365760"/>
          </a:xfrm>
          <a:prstGeom prst="rightArrow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178040" y="2606040"/>
            <a:ext cx="365760" cy="365760"/>
          </a:xfrm>
          <a:prstGeom prst="rightArrow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9464040" y="2606040"/>
            <a:ext cx="365760" cy="365760"/>
          </a:xfrm>
          <a:prstGeom prst="rightArrow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Cada fase está implementada en un script independiente y reproducible.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Todo el pipeline se ejecuta en menos de 1 minuto.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Fuente: 15 archivos CSV originales → 1 dataset consolidado.</a:t>
            </a:r>
          </a:p>
        </p:txBody>
      </p:sp>
      <p:pic>
        <p:nvPicPr>
          <p:cNvPr id="14" name="ttsmaker-file-2026-9-18-20-3-31">
            <a:hlinkClick r:id="" action="ppaction://media"/>
            <a:extLst>
              <a:ext uri="{FF2B5EF4-FFF2-40B4-BE49-F238E27FC236}">
                <a16:creationId xmlns:a16="http://schemas.microsoft.com/office/drawing/2014/main" id="{4535A618-D5DE-F94C-EAA1-BA4D2B856A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09018" y="556080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92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5. Fase 1: Reparación de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Problema detectado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Los CSV descargados tienen comillas dobles duplicadas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Ejemplo: "Any,""Mes"",""Codi_Districte""..."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Esto rompe pandas al leerlos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Solución implementada (reparar_csv_notariado.py)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Leer los archivos como texto plano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Eliminar comillas exteriores y duplicadas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Guardar en data/raw/notariado_limpio/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Resultado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15 archivos reparados correctamente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Acentos y caracteres especiales OK (Gràcia, Sagrada Família)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Lectura con pandas sin errores</a:t>
            </a:r>
          </a:p>
        </p:txBody>
      </p:sp>
      <p:pic>
        <p:nvPicPr>
          <p:cNvPr id="5" name="ttsmaker-file-2026-9-18-20-4-43">
            <a:hlinkClick r:id="" action="ppaction://media"/>
            <a:extLst>
              <a:ext uri="{FF2B5EF4-FFF2-40B4-BE49-F238E27FC236}">
                <a16:creationId xmlns:a16="http://schemas.microsoft.com/office/drawing/2014/main" id="{EB536B74-19A6-1032-87FF-4F272F1F22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60448" y="571805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6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6. Fase 2: Ingesta y agregación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Ingesta (cargar_notariado.py)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Leer los 15 CSV ignorando la cabecera original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Asignar nombres fijos de columna (más robusto)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Consolidar en data/interim/notariado_barcelona.csv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36.771 filas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Agregación (agregar_notariado_barcelona.py)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Vista 1: barrio × mes (total de transacciones)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Vista 2: barrio × mes × tipología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Relleno de meses faltantes con 0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Decisión metodológica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Excluir tipología 'No consta' (cajón de sastre sin valor)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6 tipologías finales: Residencial, Aparcament, Comercial,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 Oficina, Turístic, Equipaments</a:t>
            </a:r>
          </a:p>
        </p:txBody>
      </p:sp>
      <p:pic>
        <p:nvPicPr>
          <p:cNvPr id="5" name="ttsmaker-file-2026-9-18-20-5-52">
            <a:hlinkClick r:id="" action="ppaction://media"/>
            <a:extLst>
              <a:ext uri="{FF2B5EF4-FFF2-40B4-BE49-F238E27FC236}">
                <a16:creationId xmlns:a16="http://schemas.microsoft.com/office/drawing/2014/main" id="{B6460EF6-5B6E-E1B8-429F-05FEBC2CC1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52646" y="560739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5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7. Fase 3: Filtrado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Filtro</a:t>
            </a:r>
            <a:r>
              <a:rPr dirty="0"/>
              <a:t> 1: Barrios con &gt;90% de meses sin </a:t>
            </a:r>
            <a:r>
              <a:rPr dirty="0" err="1"/>
              <a:t>transacciones</a:t>
            </a:r>
            <a:endParaRPr dirty="0"/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rPr dirty="0"/>
              <a:t>  ◦ 5 barrios </a:t>
            </a:r>
            <a:r>
              <a:rPr dirty="0" err="1"/>
              <a:t>excluidos</a:t>
            </a:r>
            <a:r>
              <a:rPr dirty="0"/>
              <a:t>: Can </a:t>
            </a:r>
            <a:r>
              <a:rPr dirty="0" err="1"/>
              <a:t>Peguera</a:t>
            </a:r>
            <a:r>
              <a:rPr dirty="0"/>
              <a:t>, </a:t>
            </a:r>
            <a:r>
              <a:rPr dirty="0" err="1"/>
              <a:t>Vallbona</a:t>
            </a:r>
            <a:r>
              <a:rPr dirty="0"/>
              <a:t>, Torre </a:t>
            </a:r>
            <a:r>
              <a:rPr dirty="0" err="1"/>
              <a:t>Baró</a:t>
            </a:r>
            <a:r>
              <a:rPr dirty="0"/>
              <a:t>,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    </a:t>
            </a:r>
            <a:r>
              <a:rPr dirty="0" err="1"/>
              <a:t>Baró</a:t>
            </a:r>
            <a:r>
              <a:rPr dirty="0"/>
              <a:t> de Viver, la Clota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rPr dirty="0"/>
              <a:t>  ◦ </a:t>
            </a:r>
            <a:r>
              <a:rPr dirty="0" err="1"/>
              <a:t>Aportan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del 1% de las </a:t>
            </a:r>
            <a:r>
              <a:rPr dirty="0" err="1"/>
              <a:t>transacciones</a:t>
            </a:r>
            <a:r>
              <a:rPr dirty="0"/>
              <a:t> </a:t>
            </a:r>
            <a:r>
              <a:rPr dirty="0" err="1"/>
              <a:t>totales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Filtro</a:t>
            </a:r>
            <a:r>
              <a:rPr dirty="0"/>
              <a:t> 2: Meses </a:t>
            </a:r>
            <a:r>
              <a:rPr dirty="0" err="1"/>
              <a:t>corruptos</a:t>
            </a:r>
            <a:endParaRPr dirty="0"/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rPr dirty="0"/>
              <a:t>  ◦ Agosto 2013: solo 15 </a:t>
            </a:r>
            <a:r>
              <a:rPr dirty="0" err="1"/>
              <a:t>transacciones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Barcelona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    (vs ~500 de media </a:t>
            </a:r>
            <a:r>
              <a:rPr dirty="0" err="1"/>
              <a:t>histórica</a:t>
            </a:r>
            <a:r>
              <a:rPr dirty="0"/>
              <a:t> del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mes</a:t>
            </a:r>
            <a:r>
              <a:rPr dirty="0"/>
              <a:t>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rPr dirty="0"/>
              <a:t>  ◦ Datos </a:t>
            </a:r>
            <a:r>
              <a:rPr dirty="0" err="1"/>
              <a:t>claramente</a:t>
            </a:r>
            <a:r>
              <a:rPr dirty="0"/>
              <a:t> </a:t>
            </a:r>
            <a:r>
              <a:rPr dirty="0" err="1"/>
              <a:t>incompletos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fuente</a:t>
            </a:r>
            <a:r>
              <a:rPr dirty="0"/>
              <a:t> original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Meses </a:t>
            </a:r>
            <a:r>
              <a:rPr dirty="0" err="1"/>
              <a:t>revisados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eliminados</a:t>
            </a:r>
            <a:endParaRPr dirty="0"/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rPr dirty="0"/>
              <a:t>  ◦ 2012-2013: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bajos</a:t>
            </a:r>
            <a:r>
              <a:rPr dirty="0"/>
              <a:t> </a:t>
            </a:r>
            <a:r>
              <a:rPr dirty="0" err="1"/>
              <a:t>coherentes</a:t>
            </a:r>
            <a:r>
              <a:rPr dirty="0"/>
              <a:t> con la crisis </a:t>
            </a:r>
            <a:r>
              <a:rPr dirty="0" err="1"/>
              <a:t>inmobiliaria</a:t>
            </a:r>
            <a:endParaRPr dirty="0"/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rPr dirty="0"/>
              <a:t>  ◦ </a:t>
            </a:r>
            <a:r>
              <a:rPr dirty="0" err="1"/>
              <a:t>Octubre</a:t>
            </a:r>
            <a:r>
              <a:rPr dirty="0"/>
              <a:t> 2023: 90% </a:t>
            </a:r>
            <a:r>
              <a:rPr dirty="0" err="1"/>
              <a:t>caída</a:t>
            </a:r>
            <a:r>
              <a:rPr dirty="0"/>
              <a:t> (no 97%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agosto</a:t>
            </a:r>
            <a:r>
              <a:rPr dirty="0"/>
              <a:t> 2013),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    coincide con </a:t>
            </a:r>
            <a:r>
              <a:rPr dirty="0" err="1"/>
              <a:t>incertidumbre</a:t>
            </a:r>
            <a:r>
              <a:rPr dirty="0"/>
              <a:t> </a:t>
            </a:r>
            <a:r>
              <a:rPr dirty="0" err="1"/>
              <a:t>política</a:t>
            </a:r>
            <a:r>
              <a:rPr dirty="0"/>
              <a:t> y </a:t>
            </a:r>
            <a:r>
              <a:rPr dirty="0" err="1"/>
              <a:t>subida</a:t>
            </a:r>
            <a:r>
              <a:rPr dirty="0"/>
              <a:t> de </a:t>
            </a:r>
            <a:r>
              <a:rPr dirty="0" err="1"/>
              <a:t>tipos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Resultado</a:t>
            </a:r>
            <a:r>
              <a:rPr dirty="0"/>
              <a:t> final: 68 barrios × 167 meses = 11.356 </a:t>
            </a:r>
            <a:r>
              <a:rPr dirty="0" err="1"/>
              <a:t>filas</a:t>
            </a:r>
            <a:endParaRPr dirty="0"/>
          </a:p>
        </p:txBody>
      </p:sp>
      <p:pic>
        <p:nvPicPr>
          <p:cNvPr id="5" name="ttsmaker-file-2026-9-18-20-7-33">
            <a:hlinkClick r:id="" action="ppaction://media"/>
            <a:extLst>
              <a:ext uri="{FF2B5EF4-FFF2-40B4-BE49-F238E27FC236}">
                <a16:creationId xmlns:a16="http://schemas.microsoft.com/office/drawing/2014/main" id="{6BB65689-5100-5B2A-FA0C-3655C43637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35174" y="539189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1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8. Fase 4: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Features temporales (5)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mes_sin, mes_cos (codificación cíclica del mes)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trimestre, tendencia, es_agosto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Lags (5)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lag_1, lag_2, lag_3 (meses anteriores)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lag_12 (mismo mes del año anterior)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diff_1 (diferencia entre lag_1 y lag_2)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Rolling windows (3)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rolling_3m, rolling_6m, rolling_12m (medias móviles)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Tipologías (6) - con lag 1 para evitar leakage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pct_residencial, pct_aparcament, pct_comercial, ...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Contexto (2) - con lag 1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peso_barrio_en_distrito, peso_barrio_en_ciudad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Codificación categórica (11)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dist_* (one-hot de 10 distritos)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barrio_te (target encoding de barrio)</a:t>
            </a:r>
          </a:p>
        </p:txBody>
      </p:sp>
      <p:pic>
        <p:nvPicPr>
          <p:cNvPr id="5" name="ttsmaker-file-2026-9-18-20-8-57">
            <a:hlinkClick r:id="" action="ppaction://media"/>
            <a:extLst>
              <a:ext uri="{FF2B5EF4-FFF2-40B4-BE49-F238E27FC236}">
                <a16:creationId xmlns:a16="http://schemas.microsoft.com/office/drawing/2014/main" id="{3CCCFAD1-591D-9266-36F7-BA536413C1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35173" y="563651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15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9. Fase 5: Split temporal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10972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Split TEMPORAL (no aleatorio)</a:t>
            </a:r>
          </a:p>
          <a:p>
            <a:r>
              <a:t>Train: 2012-2022  ·  Test: 2023-2025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Justificación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El objetivo es predecir el futuro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Un split aleatorio causaría data leakage temporal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El modelo debe evaluarse en datos POSTERIORES al train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Dimensiones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Train: 8.908 filas (11 años)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Test: 2.448 filas (3 años)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Total: 11.356 filas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Distribución del target (asimetría)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Train: media 20,84 · mediana 15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Test:  media 28,21 · mediana 22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Skewness global: 2,76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Justifica el uso de objetivo Poisson en XGBoost</a:t>
            </a:r>
          </a:p>
        </p:txBody>
      </p:sp>
      <p:pic>
        <p:nvPicPr>
          <p:cNvPr id="6" name="ttsmaker-file-2026-9-18-20-10-44">
            <a:hlinkClick r:id="" action="ppaction://media"/>
            <a:extLst>
              <a:ext uri="{FF2B5EF4-FFF2-40B4-BE49-F238E27FC236}">
                <a16:creationId xmlns:a16="http://schemas.microsoft.com/office/drawing/2014/main" id="{13BCB58C-5162-30E0-1DD6-C90FEE68AF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01217" y="572387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8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0392B"/>
                </a:solidFill>
                <a:latin typeface="Calibri"/>
              </a:defRPr>
            </a:pPr>
            <a:r>
              <a:t>10. Detección de data leakage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10058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Hallazgo clave del proyecto: data leakage en features de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Problema detectado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peso_barrio_en_distrito y peso_barrio_en_ciudad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  se calculaban con el TARGET DEL MISMO MES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El modelo 'veía' parte de la respuesta correcta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Síntomas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R² inusualmente alto: 0,835 en test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Feature importance sospechosa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Solución aplicada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Recalcular TODAS las features de contexto y tipología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  con LAG 1 (mes anterior)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Garantiza usar solo información del pasado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Impacto en el rendimiento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R² test: 0,835 → 0,617 (modelo honesto)</a:t>
            </a:r>
          </a:p>
          <a:p>
            <a:pPr lvl="1">
              <a:spcAft>
                <a:spcPts val="6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  ◦ RMSE test: 10,34 → 15,77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Lección: el rendimiento cayó, pero el modelo es HONESTO y defendible.</a:t>
            </a:r>
          </a:p>
        </p:txBody>
      </p:sp>
      <p:pic>
        <p:nvPicPr>
          <p:cNvPr id="6" name="ttsmaker-file-2026-9-18-20-12-15">
            <a:hlinkClick r:id="" action="ppaction://media"/>
            <a:extLst>
              <a:ext uri="{FF2B5EF4-FFF2-40B4-BE49-F238E27FC236}">
                <a16:creationId xmlns:a16="http://schemas.microsoft.com/office/drawing/2014/main" id="{EDD211D2-F9B2-10CE-C20B-4A56147F82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29118" y="557827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3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11. Modelado: Ridge vs XGBoost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Baseline (Ridge y Lasso)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15 features numéricas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TimeSeriesSplit con 3 folds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GridSearchCV sobre el parámetro alpha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Ridge: R² = 0,615 · RMSE = 15,82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Modelo final (XGBoost)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32 features (todas)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Objetivo Poisson (datos de conteo)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RandomizedSearchCV con grid conservador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Hiperparámetros: max_depth=3, reg_lambda=20, min_child_weight=10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XGBoost: R² = 0,617 · RMSE = 15,77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Decisión: XGBoost por: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Ligera mejora en RMSE y MAPE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Overfitting controlado (delta train-test R² = 0,022)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Interpretabilidad superior vía SHAP</a:t>
            </a:r>
          </a:p>
        </p:txBody>
      </p:sp>
      <p:pic>
        <p:nvPicPr>
          <p:cNvPr id="5" name="ttsmaker-file-2026-9-18-20-14-3">
            <a:hlinkClick r:id="" action="ppaction://media"/>
            <a:extLst>
              <a:ext uri="{FF2B5EF4-FFF2-40B4-BE49-F238E27FC236}">
                <a16:creationId xmlns:a16="http://schemas.microsoft.com/office/drawing/2014/main" id="{49E6E123-A809-5CBD-49A6-3C1E415AD8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95393" y="5677284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12. Validación 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Estrategia de validación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TimeSeriesSplit con 3 folds durante la búsqueda de hiperparámetros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Evaluación final en test (2023-2025)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Métricas utilizadas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RMSE: raíz del error cuadrático medio (escala original)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MAE: error absoluto medio (interpretable)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R²: coeficiente de determinación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MAPE: error porcentual absoluto medio (business)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Resultados finales del modelo XGBoost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Train: RMSE=13,39 · MAE=7,43 · R²=0,639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Test:  RMSE=15,77 · MAE=9,26 · R²=0,617 · MAPE=36,7%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Análisis de overfitting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Delta R² train-test: 0,022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Delta RMSE: 2,38</a:t>
            </a:r>
          </a:p>
          <a:p>
            <a:pPr lvl="1"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  ◦ Overfitting CONTROLADO</a:t>
            </a:r>
          </a:p>
        </p:txBody>
      </p:sp>
      <p:pic>
        <p:nvPicPr>
          <p:cNvPr id="5" name="ttsmaker-file-2026-9-18-20-15-37">
            <a:hlinkClick r:id="" action="ppaction://media"/>
            <a:extLst>
              <a:ext uri="{FF2B5EF4-FFF2-40B4-BE49-F238E27FC236}">
                <a16:creationId xmlns:a16="http://schemas.microsoft.com/office/drawing/2014/main" id="{7B368155-2CBF-2202-4A95-9EFD1389F3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77920" y="5752999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6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1641</Words>
  <Application>Microsoft Office PowerPoint</Application>
  <PresentationFormat>Panorámica</PresentationFormat>
  <Paragraphs>219</Paragraphs>
  <Slides>14</Slides>
  <Notes>0</Notes>
  <HiddenSlides>0</HiddenSlides>
  <MMClips>14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Judit Giravent Pineda</cp:lastModifiedBy>
  <cp:revision>3</cp:revision>
  <dcterms:created xsi:type="dcterms:W3CDTF">2013-01-27T09:14:16Z</dcterms:created>
  <dcterms:modified xsi:type="dcterms:W3CDTF">2026-09-18T18:16:28Z</dcterms:modified>
  <cp:category/>
</cp:coreProperties>
</file>