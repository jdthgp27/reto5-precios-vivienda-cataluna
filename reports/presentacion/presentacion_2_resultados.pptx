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1" d="100"/>
          <a:sy n="131" d="100"/>
        </p:scale>
        <p:origin x="106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0.mp3"/><Relationship Id="rId1" Type="http://schemas.microsoft.com/office/2007/relationships/media" Target="../media/media10.mp3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2.mp3"/><Relationship Id="rId1" Type="http://schemas.microsoft.com/office/2007/relationships/media" Target="../media/media12.mp3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3.mp3"/><Relationship Id="rId1" Type="http://schemas.microsoft.com/office/2007/relationships/media" Target="../media/media13.mp3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4.mp3"/><Relationship Id="rId1" Type="http://schemas.microsoft.com/office/2007/relationships/media" Target="../media/media14.mp3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5.mp3"/><Relationship Id="rId1" Type="http://schemas.microsoft.com/office/2007/relationships/media" Target="../media/media15.mp3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6.mp3"/><Relationship Id="rId1" Type="http://schemas.microsoft.com/office/2007/relationships/media" Target="../media/media16.mp3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7.mp3"/><Relationship Id="rId1" Type="http://schemas.microsoft.com/office/2007/relationships/media" Target="../media/media17.mp3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28600" y="0"/>
            <a:ext cx="11963095" cy="320040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Calibri"/>
              </a:defRPr>
            </a:pPr>
            <a:r>
              <a:t>Resultados e Interpretación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Predicción de transacciones inmobiliarias · Barcelona 2012-2025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Reto 5 · Business Intelligence y Big Data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Curso Odisea Data · 2025</a:t>
            </a:r>
          </a:p>
        </p:txBody>
      </p:sp>
      <p:pic>
        <p:nvPicPr>
          <p:cNvPr id="7" name="ttsmaker-file-2026-9-18-19-29-0">
            <a:hlinkClick r:id="" action="ppaction://media"/>
            <a:extLst>
              <a:ext uri="{FF2B5EF4-FFF2-40B4-BE49-F238E27FC236}">
                <a16:creationId xmlns:a16="http://schemas.microsoft.com/office/drawing/2014/main" id="{C9FAB388-5F26-221D-26CF-C3512568B2A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19200" y="5639117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21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86AB"/>
                </a:solidFill>
                <a:latin typeface="Calibri"/>
              </a:defRPr>
            </a:pPr>
            <a:r>
              <a:t>Índice de la presentación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1. Resumen ejecutivo (5 hallazgos clave)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2. EDA: Ciclo 2012-2025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3. EDA: Estacionalidad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4. EDA: Ranking de barrios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5. EDA: Distribución por tipologías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6. Análisis SERPAVI vs transacciones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7. Análisis extranjeros por distrito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8. Modelo final: XGBoost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9. SHAP: top features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10. SHAP: caso waterfall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11. Análisis de residuos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12. Limitaciones del modelo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13. Recomendaciones para inversores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14. Recomendaciones para administraciones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15. Cierre</a:t>
            </a:r>
          </a:p>
        </p:txBody>
      </p:sp>
      <p:pic>
        <p:nvPicPr>
          <p:cNvPr id="5" name="ttsmaker-file-2026-9-18-19-30-35">
            <a:hlinkClick r:id="" action="ppaction://media"/>
            <a:extLst>
              <a:ext uri="{FF2B5EF4-FFF2-40B4-BE49-F238E27FC236}">
                <a16:creationId xmlns:a16="http://schemas.microsoft.com/office/drawing/2014/main" id="{8C5C35A5-32BF-FC4E-2E89-7698186366E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644845" y="5485086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76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86AB"/>
                </a:solidFill>
                <a:latin typeface="Calibri"/>
              </a:defRPr>
            </a:pPr>
            <a:r>
              <a:t>1. Resumen ejecutivo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058400" cy="9144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Modelo XGBoost con R² = 0,617 · RMSE = 15,77 · MAPE = 36,7%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5 hallazgos clave: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1. El mercado inmobiliario de Barcelona ha vivido un ciclo completo: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   crisis (2012), COVID (2020) y máximos históricos (2025).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2. La tendencia histórica del barrio es el factor más predictivo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   (rolling_12m con 23,7% del impacto SHAP).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3. El precio del alquiler NO predice el volumen de transacciones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   (correlación nula, r = -0,07).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4. La población extranjera es mayoritariamente inquilina (70,5%),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   especialmente en Ciutat Vella (44,9% estimado).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5. El modelo funciona bien en valores típicos (15-60 transacciones)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   pero subestima sistemáticamente los picos (100+).</a:t>
            </a:r>
          </a:p>
        </p:txBody>
      </p:sp>
      <p:pic>
        <p:nvPicPr>
          <p:cNvPr id="6" name="ttsmaker-file-2026-9-18-19-31-24">
            <a:hlinkClick r:id="" action="ppaction://media"/>
            <a:extLst>
              <a:ext uri="{FF2B5EF4-FFF2-40B4-BE49-F238E27FC236}">
                <a16:creationId xmlns:a16="http://schemas.microsoft.com/office/drawing/2014/main" id="{8CB7CE7F-AAAC-DA21-3651-9AC5C295A62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842867" y="5624866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59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86AB"/>
                </a:solidFill>
                <a:latin typeface="Calibri"/>
              </a:defRPr>
            </a:pPr>
            <a:r>
              <a:t>2. EDA: Ciclo 2012-2025</a:t>
            </a:r>
          </a:p>
        </p:txBody>
      </p:sp>
      <p:pic>
        <p:nvPicPr>
          <p:cNvPr id="4" name="Picture 3" descr="01_serie_temporal_glob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71600"/>
            <a:ext cx="9692941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0" y="1645920"/>
            <a:ext cx="1554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C3E50"/>
                </a:solidFill>
              </a:defRPr>
            </a:pPr>
            <a:r>
              <a:t>254.732</a:t>
            </a:r>
          </a:p>
          <a:p>
            <a:pPr algn="ctr">
              <a:defRPr sz="1100" b="1">
                <a:solidFill>
                  <a:srgbClr val="2C3E50"/>
                </a:solidFill>
              </a:defRPr>
            </a:pPr>
            <a:r>
              <a:t>transacciones</a:t>
            </a:r>
          </a:p>
          <a:p>
            <a:pPr algn="ctr">
              <a:defRPr sz="1100" b="1">
                <a:solidFill>
                  <a:srgbClr val="2C3E50"/>
                </a:solidFill>
              </a:defRPr>
            </a:pPr>
            <a:endParaRPr/>
          </a:p>
          <a:p>
            <a:pPr algn="ctr">
              <a:defRPr sz="1100" b="1">
                <a:solidFill>
                  <a:srgbClr val="2C3E50"/>
                </a:solidFill>
              </a:defRPr>
            </a:pPr>
            <a:r>
              <a:t>2012-2013:</a:t>
            </a:r>
          </a:p>
          <a:p>
            <a:pPr algn="ctr">
              <a:defRPr sz="1100" b="1">
                <a:solidFill>
                  <a:srgbClr val="2C3E50"/>
                </a:solidFill>
              </a:defRPr>
            </a:pPr>
            <a:r>
              <a:t>crisis</a:t>
            </a:r>
          </a:p>
          <a:p>
            <a:pPr algn="ctr">
              <a:defRPr sz="1100" b="1">
                <a:solidFill>
                  <a:srgbClr val="2C3E50"/>
                </a:solidFill>
              </a:defRPr>
            </a:pPr>
            <a:endParaRPr/>
          </a:p>
          <a:p>
            <a:pPr algn="ctr">
              <a:defRPr sz="1100" b="1">
                <a:solidFill>
                  <a:srgbClr val="2C3E50"/>
                </a:solidFill>
              </a:defRPr>
            </a:pPr>
            <a:r>
              <a:t>2020:</a:t>
            </a:r>
          </a:p>
          <a:p>
            <a:pPr algn="ctr">
              <a:defRPr sz="1100" b="1">
                <a:solidFill>
                  <a:srgbClr val="2C3E50"/>
                </a:solidFill>
              </a:defRPr>
            </a:pPr>
            <a:r>
              <a:t>COVID (-30%)</a:t>
            </a:r>
          </a:p>
          <a:p>
            <a:pPr algn="ctr">
              <a:defRPr sz="1100" b="1">
                <a:solidFill>
                  <a:srgbClr val="2C3E50"/>
                </a:solidFill>
              </a:defRPr>
            </a:pPr>
            <a:endParaRPr/>
          </a:p>
          <a:p>
            <a:pPr algn="ctr">
              <a:defRPr sz="1100" b="1">
                <a:solidFill>
                  <a:srgbClr val="2C3E50"/>
                </a:solidFill>
              </a:defRPr>
            </a:pPr>
            <a:r>
              <a:t>2025:</a:t>
            </a:r>
          </a:p>
          <a:p>
            <a:pPr algn="ctr">
              <a:defRPr sz="1100" b="1">
                <a:solidFill>
                  <a:srgbClr val="2C3E50"/>
                </a:solidFill>
              </a:defRPr>
            </a:pPr>
            <a:r>
              <a:t>máximos</a:t>
            </a:r>
          </a:p>
          <a:p>
            <a:pPr algn="ctr">
              <a:defRPr sz="1100" b="1">
                <a:solidFill>
                  <a:srgbClr val="2C3E50"/>
                </a:solidFill>
              </a:defRPr>
            </a:pPr>
            <a:r>
              <a:t>históricos</a:t>
            </a:r>
          </a:p>
        </p:txBody>
      </p:sp>
      <p:pic>
        <p:nvPicPr>
          <p:cNvPr id="6" name="ttsmaker-file-2026-9-18-19-32-26">
            <a:hlinkClick r:id="" action="ppaction://media"/>
            <a:extLst>
              <a:ext uri="{FF2B5EF4-FFF2-40B4-BE49-F238E27FC236}">
                <a16:creationId xmlns:a16="http://schemas.microsoft.com/office/drawing/2014/main" id="{7C3A6017-C9CA-B2F1-946D-E4D59B86C47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515600" y="5472254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35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86AB"/>
                </a:solidFill>
                <a:latin typeface="Calibri"/>
              </a:defRPr>
            </a:pPr>
            <a:r>
              <a:t>3. EDA: Estacionalidad</a:t>
            </a:r>
          </a:p>
        </p:txBody>
      </p:sp>
      <p:pic>
        <p:nvPicPr>
          <p:cNvPr id="4" name="Picture 3" descr="03_heatmap_anio_m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71600"/>
            <a:ext cx="7870701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0" y="1645920"/>
            <a:ext cx="1554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C3E50"/>
                </a:solidFill>
              </a:defRPr>
            </a:pPr>
            <a:r>
              <a:t>Julio:</a:t>
            </a:r>
          </a:p>
          <a:p>
            <a:pPr algn="ctr">
              <a:defRPr sz="1100" b="1">
                <a:solidFill>
                  <a:srgbClr val="2C3E50"/>
                </a:solidFill>
              </a:defRPr>
            </a:pPr>
            <a:r>
              <a:t>máximo</a:t>
            </a:r>
          </a:p>
          <a:p>
            <a:pPr algn="ctr">
              <a:defRPr sz="1100" b="1">
                <a:solidFill>
                  <a:srgbClr val="2C3E50"/>
                </a:solidFill>
              </a:defRPr>
            </a:pPr>
            <a:endParaRPr/>
          </a:p>
          <a:p>
            <a:pPr algn="ctr">
              <a:defRPr sz="1100" b="1">
                <a:solidFill>
                  <a:srgbClr val="2C3E50"/>
                </a:solidFill>
              </a:defRPr>
            </a:pPr>
            <a:r>
              <a:t>Agosto:</a:t>
            </a:r>
          </a:p>
          <a:p>
            <a:pPr algn="ctr">
              <a:defRPr sz="1100" b="1">
                <a:solidFill>
                  <a:srgbClr val="2C3E50"/>
                </a:solidFill>
              </a:defRPr>
            </a:pPr>
            <a:r>
              <a:t>mínimo</a:t>
            </a:r>
          </a:p>
          <a:p>
            <a:pPr algn="ctr">
              <a:defRPr sz="1100" b="1">
                <a:solidFill>
                  <a:srgbClr val="2C3E50"/>
                </a:solidFill>
              </a:defRPr>
            </a:pPr>
            <a:endParaRPr/>
          </a:p>
          <a:p>
            <a:pPr algn="ctr">
              <a:defRPr sz="1100" b="1">
                <a:solidFill>
                  <a:srgbClr val="2C3E50"/>
                </a:solidFill>
              </a:defRPr>
            </a:pPr>
            <a:r>
              <a:t>Pico en julio</a:t>
            </a:r>
          </a:p>
          <a:p>
            <a:pPr algn="ctr">
              <a:defRPr sz="1100" b="1">
                <a:solidFill>
                  <a:srgbClr val="2C3E50"/>
                </a:solidFill>
              </a:defRPr>
            </a:pPr>
            <a:r>
              <a:t>debido al</a:t>
            </a:r>
          </a:p>
          <a:p>
            <a:pPr algn="ctr">
              <a:defRPr sz="1100" b="1">
                <a:solidFill>
                  <a:srgbClr val="2C3E50"/>
                </a:solidFill>
              </a:defRPr>
            </a:pPr>
            <a:r>
              <a:t>retraso de</a:t>
            </a:r>
          </a:p>
          <a:p>
            <a:pPr algn="ctr">
              <a:defRPr sz="1100" b="1">
                <a:solidFill>
                  <a:srgbClr val="2C3E50"/>
                </a:solidFill>
              </a:defRPr>
            </a:pPr>
            <a:r>
              <a:t>las escrituras</a:t>
            </a:r>
          </a:p>
          <a:p>
            <a:pPr algn="ctr">
              <a:defRPr sz="1100" b="1">
                <a:solidFill>
                  <a:srgbClr val="2C3E50"/>
                </a:solidFill>
              </a:defRPr>
            </a:pPr>
            <a:r>
              <a:t>notariales</a:t>
            </a:r>
          </a:p>
        </p:txBody>
      </p:sp>
      <p:pic>
        <p:nvPicPr>
          <p:cNvPr id="6" name="ttsmaker-file-2026-9-18-19-33-26">
            <a:hlinkClick r:id="" action="ppaction://media"/>
            <a:extLst>
              <a:ext uri="{FF2B5EF4-FFF2-40B4-BE49-F238E27FC236}">
                <a16:creationId xmlns:a16="http://schemas.microsoft.com/office/drawing/2014/main" id="{B7568BCD-1CCF-EA05-422D-D3E6C46DE65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557482" y="5595745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01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86AB"/>
                </a:solidFill>
                <a:latin typeface="Calibri"/>
              </a:defRPr>
            </a:pPr>
            <a:r>
              <a:t>4. EDA: Ranking de barrios</a:t>
            </a:r>
          </a:p>
        </p:txBody>
      </p:sp>
      <p:pic>
        <p:nvPicPr>
          <p:cNvPr id="4" name="Picture 3" descr="04_ranking_barri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371600"/>
            <a:ext cx="10989756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0" y="1645920"/>
            <a:ext cx="1554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C3E50"/>
                </a:solidFill>
              </a:defRPr>
            </a:pPr>
            <a:r>
              <a:t>Top 3: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endParaRPr/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1. Sant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Gervasi -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Galvany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(11.086)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endParaRPr/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2. Nova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Esq.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Eixample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(10.550)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endParaRPr/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3. Dreta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Eixample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(9.900)</a:t>
            </a:r>
          </a:p>
        </p:txBody>
      </p:sp>
      <p:pic>
        <p:nvPicPr>
          <p:cNvPr id="6" name="ttsmaker-file-2026-9-18-19-34-20">
            <a:hlinkClick r:id="" action="ppaction://media"/>
            <a:extLst>
              <a:ext uri="{FF2B5EF4-FFF2-40B4-BE49-F238E27FC236}">
                <a16:creationId xmlns:a16="http://schemas.microsoft.com/office/drawing/2014/main" id="{183A17B7-9126-DD7A-D90B-815F5AF4B08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355240" y="5933549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969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86AB"/>
                </a:solidFill>
                <a:latin typeface="Calibri"/>
              </a:defRPr>
            </a:pPr>
            <a:r>
              <a:t>5. EDA: Distribución por tipologías</a:t>
            </a:r>
          </a:p>
        </p:txBody>
      </p:sp>
      <p:pic>
        <p:nvPicPr>
          <p:cNvPr id="4" name="Picture 3" descr="05_tipologia_porcentu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71600"/>
            <a:ext cx="10196763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0" y="1645920"/>
            <a:ext cx="1554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C3E50"/>
                </a:solidFill>
              </a:defRPr>
            </a:pPr>
            <a:r>
              <a:t>Residencial: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66,7%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endParaRPr/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Aparcament: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28,1%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endParaRPr/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Comercial: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3,3%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endParaRPr/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Oficina: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1,4%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endParaRPr/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Turístic: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0,3%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endParaRPr/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Equipaments: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0,1%</a:t>
            </a:r>
          </a:p>
        </p:txBody>
      </p:sp>
      <p:pic>
        <p:nvPicPr>
          <p:cNvPr id="6" name="ttsmaker-file-2026-9-18-19-35-40">
            <a:hlinkClick r:id="" action="ppaction://media"/>
            <a:extLst>
              <a:ext uri="{FF2B5EF4-FFF2-40B4-BE49-F238E27FC236}">
                <a16:creationId xmlns:a16="http://schemas.microsoft.com/office/drawing/2014/main" id="{38C5E3B8-6ADD-CD05-E937-34D54FD9DD2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454251" y="5787945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30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86AB"/>
                </a:solidFill>
                <a:latin typeface="Calibri"/>
              </a:defRPr>
            </a:pPr>
            <a:r>
              <a:t>6. Análisis SERPAVI vs transacciones</a:t>
            </a:r>
          </a:p>
        </p:txBody>
      </p:sp>
      <p:pic>
        <p:nvPicPr>
          <p:cNvPr id="4" name="Picture 3" descr="20_serpavi_vs_transaccion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71600"/>
            <a:ext cx="7398547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0" y="1645920"/>
            <a:ext cx="1554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C3E50"/>
                </a:solidFill>
              </a:defRPr>
            </a:pPr>
            <a:r>
              <a:t>Pearson:</a:t>
            </a:r>
          </a:p>
          <a:p>
            <a:pPr algn="ctr">
              <a:defRPr sz="1100" b="1">
                <a:solidFill>
                  <a:srgbClr val="2C3E50"/>
                </a:solidFill>
              </a:defRPr>
            </a:pPr>
            <a:r>
              <a:t>r = -0,07</a:t>
            </a:r>
          </a:p>
          <a:p>
            <a:pPr algn="ctr">
              <a:defRPr sz="1100" b="1">
                <a:solidFill>
                  <a:srgbClr val="2C3E50"/>
                </a:solidFill>
              </a:defRPr>
            </a:pPr>
            <a:r>
              <a:t>(p=0,85)</a:t>
            </a:r>
          </a:p>
          <a:p>
            <a:pPr algn="ctr">
              <a:defRPr sz="1100" b="1">
                <a:solidFill>
                  <a:srgbClr val="2C3E50"/>
                </a:solidFill>
              </a:defRPr>
            </a:pPr>
            <a:endParaRPr/>
          </a:p>
          <a:p>
            <a:pPr algn="ctr">
              <a:defRPr sz="1100" b="1">
                <a:solidFill>
                  <a:srgbClr val="2C3E50"/>
                </a:solidFill>
              </a:defRPr>
            </a:pPr>
            <a:r>
              <a:t>Spearman:</a:t>
            </a:r>
          </a:p>
          <a:p>
            <a:pPr algn="ctr">
              <a:defRPr sz="1100" b="1">
                <a:solidFill>
                  <a:srgbClr val="2C3E50"/>
                </a:solidFill>
              </a:defRPr>
            </a:pPr>
            <a:r>
              <a:t>ρ = -0,27</a:t>
            </a:r>
          </a:p>
          <a:p>
            <a:pPr algn="ctr">
              <a:defRPr sz="1100" b="1">
                <a:solidFill>
                  <a:srgbClr val="2C3E50"/>
                </a:solidFill>
              </a:defRPr>
            </a:pPr>
            <a:r>
              <a:t>(p=0,45)</a:t>
            </a:r>
          </a:p>
          <a:p>
            <a:pPr algn="ctr">
              <a:defRPr sz="1100" b="1">
                <a:solidFill>
                  <a:srgbClr val="2C3E50"/>
                </a:solidFill>
              </a:defRPr>
            </a:pPr>
            <a:endParaRPr/>
          </a:p>
          <a:p>
            <a:pPr algn="ctr">
              <a:defRPr sz="1100" b="1">
                <a:solidFill>
                  <a:srgbClr val="2C3E50"/>
                </a:solidFill>
              </a:defRPr>
            </a:pPr>
            <a:r>
              <a:t>NO hay</a:t>
            </a:r>
          </a:p>
          <a:p>
            <a:pPr algn="ctr">
              <a:defRPr sz="1100" b="1">
                <a:solidFill>
                  <a:srgbClr val="2C3E50"/>
                </a:solidFill>
              </a:defRPr>
            </a:pPr>
            <a:r>
              <a:t>correlación</a:t>
            </a:r>
          </a:p>
          <a:p>
            <a:pPr algn="ctr">
              <a:defRPr sz="1100" b="1">
                <a:solidFill>
                  <a:srgbClr val="2C3E50"/>
                </a:solidFill>
              </a:defRPr>
            </a:pPr>
            <a:r>
              <a:t>significativa</a:t>
            </a:r>
          </a:p>
        </p:txBody>
      </p:sp>
      <p:pic>
        <p:nvPicPr>
          <p:cNvPr id="6" name="ttsmaker-file-2026-9-18-19-36-34">
            <a:hlinkClick r:id="" action="ppaction://media"/>
            <a:extLst>
              <a:ext uri="{FF2B5EF4-FFF2-40B4-BE49-F238E27FC236}">
                <a16:creationId xmlns:a16="http://schemas.microsoft.com/office/drawing/2014/main" id="{39537305-91CB-2DD1-65A9-8BB928BE1BE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271918" y="5699918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27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86AB"/>
                </a:solidFill>
                <a:latin typeface="Calibri"/>
              </a:defRPr>
            </a:pPr>
            <a:r>
              <a:t>7. Análisis extranjeros por distrito</a:t>
            </a:r>
          </a:p>
        </p:txBody>
      </p:sp>
      <p:pic>
        <p:nvPicPr>
          <p:cNvPr id="4" name="Picture 3" descr="24_compradores_extranjer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71600"/>
            <a:ext cx="9165167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0" y="1645920"/>
            <a:ext cx="1554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C3E50"/>
                </a:solidFill>
              </a:defRPr>
            </a:pPr>
            <a:r>
              <a:t>Ciutat Vella: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42,6%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endParaRPr/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Sant Martí: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30,9%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endParaRPr/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Eixample: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27,8%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endParaRPr/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Media BCN: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23,0%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endParaRPr/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Sarrià: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11,5%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endParaRPr/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Les Corts: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12,9%</a:t>
            </a:r>
          </a:p>
        </p:txBody>
      </p:sp>
      <p:pic>
        <p:nvPicPr>
          <p:cNvPr id="6" name="ttsmaker-file-2026-9-18-19-37-59">
            <a:hlinkClick r:id="" action="ppaction://media"/>
            <a:extLst>
              <a:ext uri="{FF2B5EF4-FFF2-40B4-BE49-F238E27FC236}">
                <a16:creationId xmlns:a16="http://schemas.microsoft.com/office/drawing/2014/main" id="{BA36E213-B2A0-E081-3135-B1AA724B221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202205" y="5699918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61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86AB"/>
                </a:solidFill>
                <a:latin typeface="Calibri"/>
              </a:defRPr>
            </a:pPr>
            <a:r>
              <a:t>8. Modelo final: XGBoost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058400" cy="8229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XGBoost con objetivo Poisson · 32 features · R² = 0,617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Comparativa de modelos</a:t>
            </a:r>
          </a:p>
          <a:p>
            <a:pPr lvl="1">
              <a:spcAft>
                <a:spcPts val="600"/>
              </a:spcAft>
              <a:defRPr sz="1000">
                <a:solidFill>
                  <a:srgbClr val="2C3E50"/>
                </a:solidFill>
                <a:latin typeface="Calibri"/>
              </a:defRPr>
            </a:pPr>
            <a:r>
              <a:t>  ◦ Dummy (media): R² = -0,08 · RMSE = 26,53</a:t>
            </a:r>
          </a:p>
          <a:p>
            <a:pPr lvl="1">
              <a:spcAft>
                <a:spcPts val="600"/>
              </a:spcAft>
              <a:defRPr sz="1000">
                <a:solidFill>
                  <a:srgbClr val="2C3E50"/>
                </a:solidFill>
                <a:latin typeface="Calibri"/>
              </a:defRPr>
            </a:pPr>
            <a:r>
              <a:t>  ◦ Dummy (media barrio): R² = 0,43 · RMSE = 19,23</a:t>
            </a:r>
          </a:p>
          <a:p>
            <a:pPr lvl="1">
              <a:spcAft>
                <a:spcPts val="600"/>
              </a:spcAft>
              <a:defRPr sz="1000">
                <a:solidFill>
                  <a:srgbClr val="2C3E50"/>
                </a:solidFill>
                <a:latin typeface="Calibri"/>
              </a:defRPr>
            </a:pPr>
            <a:r>
              <a:t>  ◦ Ridge: R² = 0,615 · RMSE = 15,82</a:t>
            </a:r>
          </a:p>
          <a:p>
            <a:pPr lvl="1">
              <a:spcAft>
                <a:spcPts val="600"/>
              </a:spcAft>
              <a:defRPr sz="1000">
                <a:solidFill>
                  <a:srgbClr val="2C3E50"/>
                </a:solidFill>
                <a:latin typeface="Calibri"/>
              </a:defRPr>
            </a:pPr>
            <a:r>
              <a:t>  ◦ Lasso: R² = 0,605 · RMSE = 16,02</a:t>
            </a:r>
          </a:p>
          <a:p>
            <a:pPr lvl="1">
              <a:spcAft>
                <a:spcPts val="600"/>
              </a:spcAft>
              <a:defRPr sz="1000">
                <a:solidFill>
                  <a:srgbClr val="2C3E50"/>
                </a:solidFill>
                <a:latin typeface="Calibri"/>
              </a:defRPr>
            </a:pPr>
            <a:r>
              <a:t>  ◦ XGBoost: R² = 0,617 · RMSE = 15,77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Mejora sobre baseline: -0,3% RMSE · +0,002 R²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Justificación de la elección:</a:t>
            </a:r>
          </a:p>
          <a:p>
            <a:pPr lvl="1">
              <a:spcAft>
                <a:spcPts val="600"/>
              </a:spcAft>
              <a:defRPr sz="1000">
                <a:solidFill>
                  <a:srgbClr val="2C3E50"/>
                </a:solidFill>
                <a:latin typeface="Calibri"/>
              </a:defRPr>
            </a:pPr>
            <a:r>
              <a:t>  ◦ Overfitting controlado (delta train-test R² = 0,022)</a:t>
            </a:r>
          </a:p>
          <a:p>
            <a:pPr lvl="1">
              <a:spcAft>
                <a:spcPts val="600"/>
              </a:spcAft>
              <a:defRPr sz="1000">
                <a:solidFill>
                  <a:srgbClr val="2C3E50"/>
                </a:solidFill>
                <a:latin typeface="Calibri"/>
              </a:defRPr>
            </a:pPr>
            <a:r>
              <a:t>  ◦ Interpretabilidad superior vía SHAP</a:t>
            </a:r>
          </a:p>
          <a:p>
            <a:pPr lvl="1">
              <a:spcAft>
                <a:spcPts val="600"/>
              </a:spcAft>
              <a:defRPr sz="1000">
                <a:solidFill>
                  <a:srgbClr val="2C3E50"/>
                </a:solidFill>
                <a:latin typeface="Calibri"/>
              </a:defRPr>
            </a:pPr>
            <a:r>
              <a:t>  ◦ Captura interacciones no lineales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Interpretación: la mejora es marginal porque las relaciones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son mayormente lineales. Se documenta honestamente.</a:t>
            </a:r>
          </a:p>
        </p:txBody>
      </p:sp>
      <p:pic>
        <p:nvPicPr>
          <p:cNvPr id="6" name="ttsmaker-file-2026-9-18-19-39-43">
            <a:hlinkClick r:id="" action="ppaction://media"/>
            <a:extLst>
              <a:ext uri="{FF2B5EF4-FFF2-40B4-BE49-F238E27FC236}">
                <a16:creationId xmlns:a16="http://schemas.microsoft.com/office/drawing/2014/main" id="{747D9DF5-0B28-B596-3A8E-2C82178DB1F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167260" y="5543328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03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86AB"/>
                </a:solidFill>
                <a:latin typeface="Calibri"/>
              </a:defRPr>
            </a:pPr>
            <a:r>
              <a:t>9. SHAP: top features</a:t>
            </a:r>
          </a:p>
        </p:txBody>
      </p:sp>
      <p:pic>
        <p:nvPicPr>
          <p:cNvPr id="4" name="Picture 3" descr="16_shap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71600"/>
            <a:ext cx="3992201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0" y="1645920"/>
            <a:ext cx="1554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C3E50"/>
                </a:solidFill>
              </a:defRPr>
            </a:pPr>
            <a:r>
              <a:t>Top 3: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endParaRPr/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1. rolling_12m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(0,278)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endParaRPr/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2. barrio_te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(0,156)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endParaRPr/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3. rolling_6m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(0,097)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endParaRPr/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El modelo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es un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extrapolador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de tendencia</a:t>
            </a:r>
          </a:p>
        </p:txBody>
      </p:sp>
      <p:pic>
        <p:nvPicPr>
          <p:cNvPr id="6" name="ttsmaker-file-2026-9-18-19-42-7">
            <a:hlinkClick r:id="" action="ppaction://media"/>
            <a:extLst>
              <a:ext uri="{FF2B5EF4-FFF2-40B4-BE49-F238E27FC236}">
                <a16:creationId xmlns:a16="http://schemas.microsoft.com/office/drawing/2014/main" id="{B1449E05-58E8-97A5-5CD1-A5B0361B30E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916819" y="5403546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09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86AB"/>
                </a:solidFill>
                <a:latin typeface="Calibri"/>
              </a:defRPr>
            </a:pPr>
            <a:r>
              <a:t>10. SHAP: caso waterfall</a:t>
            </a:r>
          </a:p>
        </p:txBody>
      </p:sp>
      <p:pic>
        <p:nvPicPr>
          <p:cNvPr id="4" name="Picture 3" descr="18_shap_waterf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71600"/>
            <a:ext cx="4926288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0" y="1645920"/>
            <a:ext cx="1554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C3E50"/>
                </a:solidFill>
              </a:defRPr>
            </a:pPr>
            <a:r>
              <a:t>Marina del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Prat Vermell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Julio 2025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endParaRPr/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Real: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296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endParaRPr/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Pred: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15,5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endParaRPr/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Residuo: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+280,5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endParaRPr/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El modelo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NO captura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picos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extremos</a:t>
            </a:r>
          </a:p>
        </p:txBody>
      </p:sp>
      <p:pic>
        <p:nvPicPr>
          <p:cNvPr id="6" name="ttsmaker-file-2026-9-18-19-43-47">
            <a:hlinkClick r:id="" action="ppaction://media"/>
            <a:extLst>
              <a:ext uri="{FF2B5EF4-FFF2-40B4-BE49-F238E27FC236}">
                <a16:creationId xmlns:a16="http://schemas.microsoft.com/office/drawing/2014/main" id="{292A396C-DC1C-4FDF-D852-2C642212F87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515600" y="5578273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441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86AB"/>
                </a:solidFill>
                <a:latin typeface="Calibri"/>
              </a:defRPr>
            </a:pPr>
            <a:r>
              <a:t>11. Análisis de residuos</a:t>
            </a:r>
          </a:p>
        </p:txBody>
      </p:sp>
      <p:pic>
        <p:nvPicPr>
          <p:cNvPr id="4" name="Picture 3" descr="12_analisis_residu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009" y="1974272"/>
            <a:ext cx="9524188" cy="2603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0" y="1645920"/>
            <a:ext cx="1554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C3E50"/>
                </a:solidFill>
              </a:defRPr>
            </a:pPr>
            <a:r>
              <a:t>Media: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+1,89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endParaRPr/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Std: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15,66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endParaRPr/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Asimetría: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4,22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endParaRPr/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Kurtosis: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52,04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endParaRPr/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Residuos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sesgados: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el modelo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sobreestima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bajos y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subestima</a:t>
            </a:r>
          </a:p>
          <a:p>
            <a:pPr algn="ctr">
              <a:defRPr sz="1000" b="1">
                <a:solidFill>
                  <a:srgbClr val="2C3E50"/>
                </a:solidFill>
              </a:defRPr>
            </a:pPr>
            <a:r>
              <a:t>altos</a:t>
            </a:r>
          </a:p>
        </p:txBody>
      </p:sp>
      <p:pic>
        <p:nvPicPr>
          <p:cNvPr id="6" name="ttsmaker-file-2026-9-18-19-45-57">
            <a:hlinkClick r:id="" action="ppaction://media"/>
            <a:extLst>
              <a:ext uri="{FF2B5EF4-FFF2-40B4-BE49-F238E27FC236}">
                <a16:creationId xmlns:a16="http://schemas.microsoft.com/office/drawing/2014/main" id="{F6AFF794-45E9-DA23-2CBB-8DBCC52F40A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739637" y="5485085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99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86AB"/>
                </a:solidFill>
                <a:latin typeface="Calibri"/>
              </a:defRPr>
            </a:pPr>
            <a:r>
              <a:t>12. Limitaciones del modelo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Del dataset</a:t>
            </a:r>
          </a:p>
          <a:p>
            <a:pPr lvl="1">
              <a:spcAft>
                <a:spcPts val="600"/>
              </a:spcAft>
              <a:defRPr sz="1000">
                <a:solidFill>
                  <a:srgbClr val="2C3E50"/>
                </a:solidFill>
                <a:latin typeface="Calibri"/>
              </a:defRPr>
            </a:pPr>
            <a:r>
              <a:t>  ◦ Granularidad temporal mensual (no intra-mensual)</a:t>
            </a:r>
          </a:p>
          <a:p>
            <a:pPr lvl="1">
              <a:spcAft>
                <a:spcPts val="600"/>
              </a:spcAft>
              <a:defRPr sz="1000">
                <a:solidFill>
                  <a:srgbClr val="2C3E50"/>
                </a:solidFill>
                <a:latin typeface="Calibri"/>
              </a:defRPr>
            </a:pPr>
            <a:r>
              <a:t>  ◦ Granularidad espacial por barrio (no intra-barrio)</a:t>
            </a:r>
          </a:p>
          <a:p>
            <a:pPr lvl="1">
              <a:spcAft>
                <a:spcPts val="600"/>
              </a:spcAft>
              <a:defRPr sz="1000">
                <a:solidFill>
                  <a:srgbClr val="2C3E50"/>
                </a:solidFill>
                <a:latin typeface="Calibri"/>
              </a:defRPr>
            </a:pPr>
            <a:r>
              <a:t>  ◦ Datos del Notariado con 2-3 meses de retraso</a:t>
            </a:r>
          </a:p>
          <a:p>
            <a:pPr lvl="1">
              <a:spcAft>
                <a:spcPts val="600"/>
              </a:spcAft>
              <a:defRPr sz="1000">
                <a:solidFill>
                  <a:srgbClr val="2C3E50"/>
                </a:solidFill>
                <a:latin typeface="Calibri"/>
              </a:defRPr>
            </a:pPr>
            <a:r>
              <a:t>  ◦ Falta de precio €/m² en el dataset principal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Del modelo</a:t>
            </a:r>
          </a:p>
          <a:p>
            <a:pPr lvl="1">
              <a:spcAft>
                <a:spcPts val="600"/>
              </a:spcAft>
              <a:defRPr sz="1000">
                <a:solidFill>
                  <a:srgbClr val="2C3E50"/>
                </a:solidFill>
                <a:latin typeface="Calibri"/>
              </a:defRPr>
            </a:pPr>
            <a:r>
              <a:t>  ◦ Subestima valores altos (MAE 67,5 en el rango 100+)</a:t>
            </a:r>
          </a:p>
          <a:p>
            <a:pPr lvl="1">
              <a:spcAft>
                <a:spcPts val="600"/>
              </a:spcAft>
              <a:defRPr sz="1000">
                <a:solidFill>
                  <a:srgbClr val="2C3E50"/>
                </a:solidFill>
                <a:latin typeface="Calibri"/>
              </a:defRPr>
            </a:pPr>
            <a:r>
              <a:t>  ◦ Sobreestima valores bajos (en el rango 0-5 sobreestima 8,56)</a:t>
            </a:r>
          </a:p>
          <a:p>
            <a:pPr lvl="1">
              <a:spcAft>
                <a:spcPts val="600"/>
              </a:spcAft>
              <a:defRPr sz="1000">
                <a:solidFill>
                  <a:srgbClr val="2C3E50"/>
                </a:solidFill>
                <a:latin typeface="Calibri"/>
              </a:defRPr>
            </a:pPr>
            <a:r>
              <a:t>  ◦ Residuos sesgados (skewness 4,22)</a:t>
            </a:r>
          </a:p>
          <a:p>
            <a:pPr lvl="1">
              <a:spcAft>
                <a:spcPts val="600"/>
              </a:spcAft>
              <a:defRPr sz="1000">
                <a:solidFill>
                  <a:srgbClr val="2C3E50"/>
                </a:solidFill>
                <a:latin typeface="Calibri"/>
              </a:defRPr>
            </a:pPr>
            <a:r>
              <a:t>  ◦ No captura picos extremos (caso Marina del Prat Vermell)</a:t>
            </a:r>
          </a:p>
          <a:p>
            <a:pPr lvl="1">
              <a:spcAft>
                <a:spcPts val="600"/>
              </a:spcAft>
              <a:defRPr sz="1000">
                <a:solidFill>
                  <a:srgbClr val="2C3E50"/>
                </a:solidFill>
                <a:latin typeface="Calibri"/>
              </a:defRPr>
            </a:pPr>
            <a:r>
              <a:t>  ◦ R² limitado a 0,617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Del análisis complementario</a:t>
            </a:r>
          </a:p>
          <a:p>
            <a:pPr lvl="1">
              <a:spcAft>
                <a:spcPts val="600"/>
              </a:spcAft>
              <a:defRPr sz="1000">
                <a:solidFill>
                  <a:srgbClr val="2C3E50"/>
                </a:solidFill>
                <a:latin typeface="Calibri"/>
              </a:defRPr>
            </a:pPr>
            <a:r>
              <a:t>  ◦ SERPAVI excluye alquileres de personas jurídicas</a:t>
            </a:r>
          </a:p>
          <a:p>
            <a:pPr lvl="1">
              <a:spcAft>
                <a:spcPts val="600"/>
              </a:spcAft>
              <a:defRPr sz="1000">
                <a:solidFill>
                  <a:srgbClr val="2C3E50"/>
                </a:solidFill>
                <a:latin typeface="Calibri"/>
              </a:defRPr>
            </a:pPr>
            <a:r>
              <a:t>  ◦ Correlación no implica causalidad</a:t>
            </a:r>
          </a:p>
          <a:p>
            <a:pPr lvl="1">
              <a:spcAft>
                <a:spcPts val="600"/>
              </a:spcAft>
              <a:defRPr sz="1000">
                <a:solidFill>
                  <a:srgbClr val="2C3E50"/>
                </a:solidFill>
                <a:latin typeface="Calibri"/>
              </a:defRPr>
            </a:pPr>
            <a:r>
              <a:t>  ◦ Datos de extranjeros parcialmente estimados</a:t>
            </a:r>
          </a:p>
        </p:txBody>
      </p:sp>
      <p:pic>
        <p:nvPicPr>
          <p:cNvPr id="5" name="ttsmaker-file-2026-9-18-19-47-9">
            <a:hlinkClick r:id="" action="ppaction://media"/>
            <a:extLst>
              <a:ext uri="{FF2B5EF4-FFF2-40B4-BE49-F238E27FC236}">
                <a16:creationId xmlns:a16="http://schemas.microsoft.com/office/drawing/2014/main" id="{96920EA0-F5A3-1748-20AE-E29F0D26036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231326" y="5758823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29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86AB"/>
                </a:solidFill>
                <a:latin typeface="Calibri"/>
              </a:defRPr>
            </a:pPr>
            <a:r>
              <a:t>13. Recomendaciones para inversores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1. Mirar el tamaño del distrito, NO el precio del alquiler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   - El análisis SERPAVI vs transacciones muestra correlación nula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   - Factores clave: número de barrios, stock de vivienda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2. Priorizar barrios con alto rolling_12m (tendencia sostenida)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   - Eixample, Sant Martí, Sant Gervasi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3. Vigilar barrios emergentes con picos recientes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   - Marina del Prat Vermell: 296 transacciones en julio 2025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   - Diagonal Mar, Poblenou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4. Evitar barrios con &gt;80% de meses sin actividad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   - Can Peguera, Vallbona, Torre Baró (mercado ilíquido)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5. Usar el modelo para prever demanda mensual por barrio</a:t>
            </a:r>
          </a:p>
        </p:txBody>
      </p:sp>
      <p:pic>
        <p:nvPicPr>
          <p:cNvPr id="5" name="ttsmaker-file-2026-9-18-19-48-48">
            <a:hlinkClick r:id="" action="ppaction://media"/>
            <a:extLst>
              <a:ext uri="{FF2B5EF4-FFF2-40B4-BE49-F238E27FC236}">
                <a16:creationId xmlns:a16="http://schemas.microsoft.com/office/drawing/2014/main" id="{8ED77A2B-B37A-E6F1-A66E-20303641ECB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295393" y="5490910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435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E86AB"/>
                </a:solidFill>
                <a:latin typeface="Calibri"/>
              </a:defRPr>
            </a:pPr>
            <a:r>
              <a:t>14. Recomendaciones para administraciones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1. Vigilar la presión de alquiler en Ciutat Vella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   - 63,7% población extranjera · 44,9% inquilinos extranjeros est.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   - Alquiler más alto (15,55 €/m²) · Riesgo de gentrificación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2. Monitorizar barrios emergentes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   - Marina del Prat Vermell (desarrollo urbanístico)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   - Diagonal Mar (nueva construcción)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3. Planificar vivienda protegida en distritos con alta presión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   - Ciutat Vella, Eixample (4.425 transacciones en 2024)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   - Sant Martí (3.291 transacciones en 2024)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4. Usar el modelo para anticipar tensiones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   - Barrios con rolling_12m creciente y pct_turistico creciente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   - Monitorizar trimestralmente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5. Publicar datos abiertos a nivel de barrio para investigadores</a:t>
            </a:r>
          </a:p>
        </p:txBody>
      </p:sp>
      <p:pic>
        <p:nvPicPr>
          <p:cNvPr id="5" name="ttsmaker-file-2026-9-18-19-50-20">
            <a:hlinkClick r:id="" action="ppaction://media"/>
            <a:extLst>
              <a:ext uri="{FF2B5EF4-FFF2-40B4-BE49-F238E27FC236}">
                <a16:creationId xmlns:a16="http://schemas.microsoft.com/office/drawing/2014/main" id="{90EBAE96-2CC4-07E7-44E1-8D96DE01C99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004182" y="5502558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2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28600" y="1371600"/>
            <a:ext cx="11963095" cy="32004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Gracias por su atención</a:t>
            </a:r>
          </a:p>
          <a:p>
            <a:br/>
            <a:r>
              <a:t>Proyecto completo disponible en GitHub:</a:t>
            </a:r>
            <a:br/>
            <a:r>
              <a:t>reto5-precios-vivienda-cataluna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2C3E50"/>
                </a:solidFill>
              </a:defRPr>
            </a:pPr>
            <a:r>
              <a:t>Trabajo futuro: integración Idescat + SERPAVI a nivel barrio + modelo hurdle</a:t>
            </a:r>
          </a:p>
        </p:txBody>
      </p:sp>
      <p:pic>
        <p:nvPicPr>
          <p:cNvPr id="6" name="ttsmaker-file-2026-9-18-19-52-48">
            <a:hlinkClick r:id="" action="ppaction://media"/>
            <a:extLst>
              <a:ext uri="{FF2B5EF4-FFF2-40B4-BE49-F238E27FC236}">
                <a16:creationId xmlns:a16="http://schemas.microsoft.com/office/drawing/2014/main" id="{0AD15CE9-A265-F41F-6237-C7810827731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611504" y="5504807"/>
            <a:ext cx="487363" cy="487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18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1130</Words>
  <Application>Microsoft Office PowerPoint</Application>
  <PresentationFormat>Panorámica</PresentationFormat>
  <Paragraphs>254</Paragraphs>
  <Slides>17</Slides>
  <Notes>0</Notes>
  <HiddenSlides>0</HiddenSlides>
  <MMClips>17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Judit Giravent Pineda</cp:lastModifiedBy>
  <cp:revision>3</cp:revision>
  <dcterms:created xsi:type="dcterms:W3CDTF">2013-01-27T09:14:16Z</dcterms:created>
  <dcterms:modified xsi:type="dcterms:W3CDTF">2026-09-18T17:53:06Z</dcterms:modified>
  <cp:category/>
</cp:coreProperties>
</file>